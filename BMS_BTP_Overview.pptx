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is the Bridge Management System?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B3D3"/>
                </a:solidFill>
              </a:rPr>
              <a:t>1 /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006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SAP BTP  |  Bridge Management System  |  Confidential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3A70"/>
                </a:solidFill>
              </a:rPr>
              <a:t>Australia's Bridge Asset Intelligence Platform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1188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End-to-end lifecycle management for bridge assets across Australian states — from GIS inspection to NHVR heavy-vehicle compliance.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6032" y="1691640"/>
            <a:ext cx="28163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691640"/>
            <a:ext cx="54864" cy="1188720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78308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0"/>
                </a:solidFill>
              </a:rPr>
              <a:t>🌉  Asset Registry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2039112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Full CRUD on 5,000+ bridge records across 8 states. Rich attributes: location, structure, condition, load ratings.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45536" y="1691640"/>
            <a:ext cx="28163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45536" y="1691640"/>
            <a:ext cx="54864" cy="1188720"/>
          </a:xfrm>
          <a:prstGeom prst="rect">
            <a:avLst/>
          </a:prstGeom>
          <a:solidFill>
            <a:srgbClr val="0096D6"/>
          </a:solidFill>
          <a:ln w="12700">
            <a:solidFill>
              <a:srgbClr val="0096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178308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0"/>
                </a:solidFill>
              </a:rPr>
              <a:t>🗺️  GIS Map View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73552" y="2039112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Interactive Leaflet map with condition heat-map, restriction overlays, and viewport-aware API fetching.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1691640"/>
            <a:ext cx="28163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691640"/>
            <a:ext cx="54864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178308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0"/>
                </a:solidFill>
              </a:rPr>
              <a:t>📋  Inspections &amp; Conditions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63056" y="2039112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Field condition capture with photo attachments. Condition trends tracked over time per bridge.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2971800"/>
            <a:ext cx="28163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2971800"/>
            <a:ext cx="54864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06324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0"/>
                </a:solidFill>
              </a:rPr>
              <a:t>🚛  NHVR Compliance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3319272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Heavy-vehicle route assessment, gazette expiry tracking, and approval workflow for Class 1–3 vehicles.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45536" y="2971800"/>
            <a:ext cx="28163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45536" y="2971800"/>
            <a:ext cx="54864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73552" y="306324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0"/>
                </a:solidFill>
              </a:rPr>
              <a:t>📤  Mass Upload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73552" y="3319272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Excel / CSV bulk import with validation preview. Supports all datasets via MTA endpoint.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2971800"/>
            <a:ext cx="28163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971800"/>
            <a:ext cx="54864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306324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0"/>
                </a:solidFill>
              </a:rPr>
              <a:t>📊  Analytics Dashboard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63056" y="3319272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Network KPIs, condition distribution, restriction summary, and trend charts updated in real time.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37160" y="4206240"/>
            <a:ext cx="1627632" cy="50292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4206240"/>
            <a:ext cx="7324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96D6"/>
                </a:solidFill>
              </a:rPr>
              <a:t>5,000+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18423" y="4206240"/>
            <a:ext cx="8463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Bridge Records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856232" y="4206240"/>
            <a:ext cx="1627632" cy="50292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56232" y="4206240"/>
            <a:ext cx="7324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96D6"/>
                </a:solidFill>
              </a:rPr>
              <a:t>8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2637495" y="4206240"/>
            <a:ext cx="8463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Australian States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575304" y="4206240"/>
            <a:ext cx="1627632" cy="50292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75304" y="4206240"/>
            <a:ext cx="7324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96D6"/>
                </a:solidFill>
              </a:rPr>
              <a:t>13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356567" y="4206240"/>
            <a:ext cx="8463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CAP Services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294376" y="4206240"/>
            <a:ext cx="1627632" cy="50292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94376" y="4206240"/>
            <a:ext cx="7324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96D6"/>
                </a:solidFill>
              </a:rPr>
              <a:t>10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075639" y="4206240"/>
            <a:ext cx="8463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Fiori Apps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013448" y="4206240"/>
            <a:ext cx="1627632" cy="50292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13448" y="4206240"/>
            <a:ext cx="7324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96D6"/>
                </a:solidFill>
              </a:rPr>
              <a:t>5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794711" y="4206240"/>
            <a:ext cx="8463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User Roles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SAP BTP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B3D3"/>
                </a:solidFill>
              </a:rPr>
              <a:t>2 /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006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SAP BTP  |  Bridge Management System  |  Confidential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1168" y="777240"/>
            <a:ext cx="6126480" cy="713232"/>
          </a:xfrm>
          <a:prstGeom prst="rect">
            <a:avLst/>
          </a:prstGeom>
          <a:solidFill>
            <a:srgbClr val="E8F0FE"/>
          </a:solidFill>
          <a:ln w="19050">
            <a:solidFill>
              <a:srgbClr val="0070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77240"/>
            <a:ext cx="713232" cy="713232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7772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CLIENT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987552" y="813816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939"/>
                </a:solidFill>
              </a:rPr>
              <a:t>Browser / Fiori Launchpad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939"/>
                </a:solidFill>
              </a:rPr>
              <a:t>Leaflet Map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939"/>
                </a:solidFill>
              </a:rPr>
              <a:t>UI5 Controls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27248" y="1490472"/>
            <a:ext cx="0" cy="914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1627632"/>
            <a:ext cx="6126480" cy="713232"/>
          </a:xfrm>
          <a:prstGeom prst="rect">
            <a:avLst/>
          </a:prstGeom>
          <a:solidFill>
            <a:srgbClr val="FFF7ED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1627632"/>
            <a:ext cx="713232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162763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ROUTING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87552" y="1664208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939"/>
                </a:solidFill>
              </a:rPr>
              <a:t>App Router (approuter.nodejs)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939"/>
                </a:solidFill>
              </a:rPr>
              <a:t>XSUAA Token Validation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939"/>
                </a:solidFill>
              </a:rPr>
              <a:t>xs-app.json Route Config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27248" y="2340864"/>
            <a:ext cx="0" cy="914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" y="2478024"/>
            <a:ext cx="6126480" cy="91440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2478024"/>
            <a:ext cx="713232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2478024"/>
            <a:ext cx="713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BACKEND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87552" y="2514600"/>
            <a:ext cx="5257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939"/>
                </a:solidFill>
              </a:rPr>
              <a:t>CAP Node.js  |  OData v4  |  12 Custom REST APIs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939"/>
                </a:solidFill>
              </a:rPr>
              <a:t>13 Service Handlers  |  CDS Annotations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939"/>
                </a:solidFill>
              </a:rPr>
              <a:t>CSRF Middleware  |  Audit Logging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27248" y="3392424"/>
            <a:ext cx="0" cy="914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" y="3529584"/>
            <a:ext cx="6126480" cy="713232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3529584"/>
            <a:ext cx="713232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" y="352958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DATA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87552" y="35661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939"/>
                </a:solidFill>
              </a:rPr>
              <a:t>SAP HANA Cloud  |  HDI Container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939"/>
                </a:solidFill>
              </a:rPr>
              <a:t>55+ Entities  |  Bridge / Restrictions / Inspections / Lookups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37960" y="777240"/>
            <a:ext cx="2395728" cy="2551176"/>
          </a:xfrm>
          <a:prstGeom prst="rect">
            <a:avLst/>
          </a:prstGeom>
          <a:solidFill>
            <a:srgbClr val="EBF5FB"/>
          </a:solidFill>
          <a:ln w="19050">
            <a:solidFill>
              <a:srgbClr val="0096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777240"/>
            <a:ext cx="2395728" cy="274320"/>
          </a:xfrm>
          <a:prstGeom prst="rect">
            <a:avLst/>
          </a:prstGeom>
          <a:solidFill>
            <a:srgbClr val="0096D6"/>
          </a:solidFill>
          <a:ln w="12700">
            <a:solidFill>
              <a:srgbClr val="0096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77724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BTP Backing Services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01968" y="1106424"/>
            <a:ext cx="226771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1124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A70"/>
                </a:solidFill>
              </a:rPr>
              <a:t>XSUAA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65008" y="112471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Auth &amp; Scopes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601968" y="1467612"/>
            <a:ext cx="226771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4859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A70"/>
                </a:solidFill>
              </a:rPr>
              <a:t>HANA Cloud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65008" y="14859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Persistence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01968" y="1828800"/>
            <a:ext cx="226771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1847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A70"/>
                </a:solidFill>
              </a:rPr>
              <a:t>Destination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65008" y="18470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External APIs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601968" y="2189988"/>
            <a:ext cx="226771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22082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A70"/>
                </a:solidFill>
              </a:rPr>
              <a:t>HTML5 Repo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65008" y="220827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App Bundles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01968" y="2551176"/>
            <a:ext cx="226771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0" y="2569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A70"/>
                </a:solidFill>
              </a:rPr>
              <a:t>App Logs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065008" y="256946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Audit Trail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601968" y="2912364"/>
            <a:ext cx="226771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0" y="29306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A70"/>
                </a:solidFill>
              </a:rPr>
              <a:t>HDI Deployer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065008" y="293065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Schema Mgmt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327648" y="2935224"/>
            <a:ext cx="210312" cy="0"/>
          </a:xfrm>
          <a:prstGeom prst="line">
            <a:avLst/>
          </a:prstGeom>
          <a:noFill/>
          <a:ln w="19050">
            <a:solidFill>
              <a:srgbClr val="0096D6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6217920" y="29718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API calls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201168" y="43159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Layer key: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042416" y="4334256"/>
            <a:ext cx="201168" cy="164592"/>
          </a:xfrm>
          <a:prstGeom prst="rect">
            <a:avLst/>
          </a:prstGeom>
          <a:solidFill>
            <a:srgbClr val="E8F0FE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80160" y="43251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Client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231136" y="4334256"/>
            <a:ext cx="201168" cy="164592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468880" y="43251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Routing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419856" y="4334256"/>
            <a:ext cx="201168" cy="16459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0" y="43251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Backend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608576" y="4334256"/>
            <a:ext cx="201168" cy="164592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46320" y="43251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Data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BTP Services &amp; Functionality Mapping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B3D3"/>
                </a:solidFill>
              </a:rPr>
              <a:t>3 /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006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SAP BTP  |  Bridge Management System  |  Confidential</a:t>
            </a:r>
            <a:endParaRPr lang="en-US" sz="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749808"/>
          <a:ext cx="8741664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554480"/>
                <a:gridCol w="5266944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BTP Service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Plan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It Enables in BMS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</a:rPr>
                        <a:t>SAP HANA Cloud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</a:rPr>
                        <a:t>hdi-shared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D2939"/>
                          </a:solidFill>
                        </a:rPr>
                        <a:t>Persists all bridge, restriction, inspection, and lookup data. HDI deployer manages schema migrations.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</a:rPr>
                        <a:t>XSUAA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</a:rPr>
                        <a:t>application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D2939"/>
                          </a:solidFill>
                        </a:rPr>
                        <a:t>Enforces role-based access (5 scopes, 6 role-templates). Issues JWT tokens consumed by CAP and App Router.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</a:rPr>
                        <a:t>HTML5 App Repository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</a:rPr>
                        <a:t>app-host + app-runtime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D2939"/>
                          </a:solidFill>
                        </a:rPr>
                        <a:t>Hosts and serves 10 Fiori app bundles (admin, map, mass-upload, operations, dashboards) without custom web server.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</a:rPr>
                        <a:t>Application Router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</a:rPr>
                        <a:t>approuter.nodejs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D2939"/>
                          </a:solidFill>
                        </a:rPr>
                        <a:t>Single entry point for all apps. Routes traffic, validates XSUAA tokens, and injects X-CSRF-Token.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</a:rPr>
                        <a:t>Destination Service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</a:rPr>
                        <a:t>lite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D2939"/>
                          </a:solidFill>
                        </a:rPr>
                        <a:t>Manages named connections to NHVR external API, state transport APIs, and WMS tile endpoints.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</a:rPr>
                        <a:t>Application Logging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</a:rPr>
                        <a:t>lite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D2939"/>
                          </a:solidFill>
                        </a:rPr>
                        <a:t>Captures all CAP audit logs, change-log events, and custom Express router access logs for BTP log viewer.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</a:rPr>
                        <a:t>Alert Notification Svc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</a:rPr>
                        <a:t>standard (optional)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D2939"/>
                          </a:solidFill>
                        </a:rPr>
                        <a:t>Triggers email/webhook alerts when bridge condition rating falls below configured threshold.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</a:rPr>
                        <a:t>Cloud Foundry Runtime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D2939"/>
                          </a:solidFill>
                        </a:rPr>
                        <a:t>Hosts BridgeManagement-srv (CAP Node.js) and BridgeManagement approuter as CF apps.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Roles &amp; Authorization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B3D3"/>
                </a:solidFill>
              </a:rPr>
              <a:t>4 /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006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SAP BTP  |  Bridge Management System  |  Confidential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749808"/>
          <a:ext cx="5760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05840"/>
                <a:gridCol w="31089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Role Collection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XSUAA Scope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Capabilities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3A70"/>
                          </a:solidFill>
                        </a:rPr>
                        <a:t>BMS Administrator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C3AE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.admin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939"/>
                          </a:solidFill>
                        </a:rPr>
                        <a:t>Full CRUD: bridges, restrictions, lookups, mass upload, system config, audit logs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3A70"/>
                          </a:solidFill>
                        </a:rPr>
                        <a:t>BMS Bridge Manager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C3AE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.manage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939"/>
                          </a:solidFill>
                        </a:rPr>
                        <a:t>Create &amp; edit bridges, restrictions, attachments, condition capture, reports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3A70"/>
                          </a:solidFill>
                        </a:rPr>
                        <a:t>BMS Operator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C3AE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.operate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939"/>
                          </a:solidFill>
                        </a:rPr>
                        <a:t>Read + mass upload, mass edit, NHVR compliance, GIS map write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3A70"/>
                          </a:solidFill>
                        </a:rPr>
                        <a:t>BMS Inspector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C3AE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.inspect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939"/>
                          </a:solidFill>
                        </a:rPr>
                        <a:t>Read + condition capture, inspection creation, defect logging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3A70"/>
                          </a:solidFill>
                        </a:rPr>
                        <a:t>BMS Viewer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C3AE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.view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2939"/>
                          </a:solidFill>
                        </a:rPr>
                        <a:t>Read-only: map, reports, dashboards. No write access anywhere.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144768" y="749808"/>
            <a:ext cx="2798064" cy="3950208"/>
          </a:xfrm>
          <a:prstGeom prst="rect">
            <a:avLst/>
          </a:prstGeom>
          <a:solidFill>
            <a:srgbClr val="F0F4FF"/>
          </a:solidFill>
          <a:ln w="19050">
            <a:solidFill>
              <a:srgbClr val="0070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44768" y="749808"/>
            <a:ext cx="2798064" cy="274320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44768" y="749808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Auth Flow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291072" y="1115568"/>
            <a:ext cx="310896" cy="310896"/>
          </a:xfrm>
          <a:prstGeom prst="ellipse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91072" y="1115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675120" y="11155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A70"/>
                </a:solidFill>
              </a:rPr>
              <a:t>User Login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675120" y="128930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Browser → XSUAA IdP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OAuth2 authorization code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446520" y="1426464"/>
            <a:ext cx="0" cy="310896"/>
          </a:xfrm>
          <a:prstGeom prst="line">
            <a:avLst/>
          </a:prstGeom>
          <a:noFill/>
          <a:ln w="19050">
            <a:solidFill>
              <a:srgbClr val="0096D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91072" y="1737360"/>
            <a:ext cx="310896" cy="310896"/>
          </a:xfrm>
          <a:prstGeom prst="ellipse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91072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675120" y="17373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A70"/>
                </a:solidFill>
              </a:rPr>
              <a:t>Token Issue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675120" y="191109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XSUAA issues JWT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with scopes + attributes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446520" y="2048256"/>
            <a:ext cx="0" cy="310896"/>
          </a:xfrm>
          <a:prstGeom prst="line">
            <a:avLst/>
          </a:prstGeom>
          <a:noFill/>
          <a:ln w="19050">
            <a:solidFill>
              <a:srgbClr val="0096D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91072" y="2359152"/>
            <a:ext cx="310896" cy="310896"/>
          </a:xfrm>
          <a:prstGeom prst="ellipse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9107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675120" y="23591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A70"/>
                </a:solidFill>
              </a:rPr>
              <a:t>App Router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675120" y="25328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Validates JWT signature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Routes to CAP backend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446520" y="2670048"/>
            <a:ext cx="0" cy="310896"/>
          </a:xfrm>
          <a:prstGeom prst="line">
            <a:avLst/>
          </a:prstGeom>
          <a:noFill/>
          <a:ln w="19050">
            <a:solidFill>
              <a:srgbClr val="0096D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91072" y="2980944"/>
            <a:ext cx="310896" cy="310896"/>
          </a:xfrm>
          <a:prstGeom prst="ellipse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91072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675120" y="298094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A70"/>
                </a:solidFill>
              </a:rPr>
              <a:t>CAP srv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675120" y="31546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cds.requires.auth checks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scope per entity action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446520" y="3291840"/>
            <a:ext cx="0" cy="310896"/>
          </a:xfrm>
          <a:prstGeom prst="line">
            <a:avLst/>
          </a:prstGeom>
          <a:noFill/>
          <a:ln w="19050">
            <a:solidFill>
              <a:srgbClr val="0096D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291072" y="3602736"/>
            <a:ext cx="310896" cy="310896"/>
          </a:xfrm>
          <a:prstGeom prst="ellipse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91072" y="3602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675120" y="36027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A70"/>
                </a:solidFill>
              </a:rPr>
              <a:t>Row Security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675120" y="37764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State attribute restricts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bridge record visibility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144768" y="4187952"/>
            <a:ext cx="2798064" cy="51206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99632" y="4206240"/>
            <a:ext cx="2688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400E"/>
                </a:solidFill>
              </a:rPr>
              <a:t>⚙  Local Dev: dummy auth (no XSUAA)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2400E"/>
                </a:solidFill>
              </a:rPr>
              <a:t>    BTP Prod: XSUAA JWT (full enforcement)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Maintenance &amp; Operations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B3D3"/>
                </a:solidFill>
              </a:rPr>
              <a:t>5 /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006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SAP BTP  |  Bridge Management System  |  Confidential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1168" y="749808"/>
            <a:ext cx="4297680" cy="1170432"/>
          </a:xfrm>
          <a:prstGeom prst="rect">
            <a:avLst/>
          </a:prstGeom>
          <a:solidFill>
            <a:srgbClr val="EBF5FB"/>
          </a:solidFill>
          <a:ln w="12700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749808"/>
            <a:ext cx="4297680" cy="256032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74980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🔄  Routine Tasks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10896" y="1024128"/>
            <a:ext cx="40965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2939"/>
                </a:solidFill>
              </a:rPr>
              <a:t>• Seed data refresh via cds deploy after lookup table edits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D2939"/>
                </a:solidFill>
              </a:rPr>
              <a:t>• Schema migrations: edit db/schema → cds deploy --to hana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D2939"/>
                </a:solidFill>
              </a:rPr>
              <a:t>• NHVR gazette re-assessment when state regulations change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D2939"/>
                </a:solidFill>
              </a:rPr>
              <a:t>• Mass upload template regeneration after schema changes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45152" y="749808"/>
            <a:ext cx="4297680" cy="117043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5152" y="749808"/>
            <a:ext cx="429768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74980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📊  Monitoring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0" y="1024128"/>
            <a:ext cx="40965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2939"/>
                </a:solidFill>
              </a:rPr>
              <a:t>• BTP Application Logging: CAP audit logs + REST access logs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D2939"/>
                </a:solidFill>
              </a:rPr>
              <a:t>• Alert Notification: condition rating degradation triggers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D2939"/>
                </a:solidFill>
              </a:rPr>
              <a:t>• Health endpoint: GET /health — returns {status: 'ok'}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D2939"/>
                </a:solidFill>
              </a:rPr>
              <a:t>• @cap-js/audit-logging captures all entity mutations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01168" y="2011680"/>
            <a:ext cx="4297680" cy="987552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1168" y="2011680"/>
            <a:ext cx="42976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201168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🗄️  Backup &amp; Recovery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10896" y="228600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2939"/>
                </a:solidFill>
              </a:rPr>
              <a:t>• HANA Cloud: automated daily backups, 14-day retention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D2939"/>
                </a:solidFill>
              </a:rPr>
              <a:t>• Point-in-time recovery via BTP cockpit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D2939"/>
                </a:solidFill>
              </a:rPr>
              <a:t>• HDI container snapshots before major schema migrations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45152" y="2011680"/>
            <a:ext cx="4297680" cy="987552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45152" y="2011680"/>
            <a:ext cx="429768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201168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📦  Version Cadence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228600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2939"/>
                </a:solidFill>
              </a:rPr>
              <a:t>• @sap/cds v9+ — track monthly SAP CAP release notes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D2939"/>
                </a:solidFill>
              </a:rPr>
              <a:t>• Node.js 20 LTS required (enforce via .nvmrc: 20)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D2939"/>
                </a:solidFill>
              </a:rPr>
              <a:t>• xlsx 0.18.x — stable; avoid major version upgrades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01168" y="3090672"/>
            <a:ext cx="8741664" cy="804672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01168" y="3090672"/>
            <a:ext cx="8741664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3090672"/>
            <a:ext cx="8604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⚠️  Operational Notes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10896" y="3364992"/>
            <a:ext cx="8540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2939"/>
                </a:solidFill>
              </a:rPr>
              <a:t>• Upload limit: ~18 MB raw file (25 MB JSON limit via express.json). Label in UI says 50 MB — update if raising the limit to 70 MB.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D2939"/>
                </a:solidFill>
              </a:rPr>
              <a:t>• CSV + 'All Datasets' is rejected server-side — add client-side validation in MassUpload.controller.js.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D2939"/>
                </a:solidFill>
              </a:rPr>
              <a:t>• Port 8008 local (4004 reserved by adjacent project). BTP uses standard CF ports.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D2939"/>
                </a:solidFill>
              </a:rPr>
              <a:t>• Run npm run validate-build (cds build + mbt build) before every BTP deployment.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Deployment Pipeline &amp; Configuration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B3D3"/>
                </a:solidFill>
              </a:rPr>
              <a:t>6 /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006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SAP BTP  |  Bridge Management System  |  Confidential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1168" y="768096"/>
            <a:ext cx="1280160" cy="6858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" y="8046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git push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origin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1168" y="119786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1FAE5"/>
                </a:solidFill>
              </a:rPr>
              <a:t>draftv8-btp-sid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481328" y="1110996"/>
            <a:ext cx="20116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82496" y="768096"/>
            <a:ext cx="1280160" cy="685800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82496" y="8046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cds build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--production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82496" y="119786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1FAE5"/>
                </a:solidFill>
              </a:rPr>
              <a:t>Compiles CDS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962656" y="1110996"/>
            <a:ext cx="20116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63824" y="768096"/>
            <a:ext cx="128016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63824" y="8046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npm run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validate-build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163824" y="119786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1FAE5"/>
                </a:solidFill>
              </a:rPr>
              <a:t>Schema + MBT check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443984" y="1110996"/>
            <a:ext cx="20116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45152" y="768096"/>
            <a:ext cx="1280160" cy="685800"/>
          </a:xfrm>
          <a:prstGeom prst="rect">
            <a:avLst/>
          </a:prstGeom>
          <a:solidFill>
            <a:srgbClr val="0096D6"/>
          </a:solidFill>
          <a:ln w="12700">
            <a:solidFill>
              <a:srgbClr val="0096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45152" y="8046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mbt build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--mtar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45152" y="119786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1FAE5"/>
                </a:solidFill>
              </a:rPr>
              <a:t>Produces .mtar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925312" y="1110996"/>
            <a:ext cx="20116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768096"/>
            <a:ext cx="1280160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8046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cf deploy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*.mtar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26480" y="119786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1FAE5"/>
                </a:solidFill>
              </a:rPr>
              <a:t>CF push all modules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406640" y="1110996"/>
            <a:ext cx="20116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07808" y="768096"/>
            <a:ext cx="128016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607808" y="8046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Verify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/health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607808" y="119786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1FAE5"/>
                </a:solidFill>
              </a:rPr>
              <a:t>Smoke test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01168" y="15727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0"/>
                </a:solidFill>
              </a:rPr>
              <a:t>MTA Modules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1828800"/>
          <a:ext cx="4389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14630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939"/>
                          </a:solidFill>
                        </a:rPr>
                        <a:t>BridgeManagement-srv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939"/>
                          </a:solidFill>
                        </a:rPr>
                        <a:t>nodejs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939"/>
                          </a:solidFill>
                        </a:rPr>
                        <a:t>CAP backend — OData v4 + 12 REST APIs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939"/>
                          </a:solidFill>
                        </a:rPr>
                        <a:t>BridgeManagement (router)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939"/>
                          </a:solidFill>
                        </a:rPr>
                        <a:t>approuter.nodejs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939"/>
                          </a:solidFill>
                        </a:rPr>
                        <a:t>Token validation, routing, CSRF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939"/>
                          </a:solidFill>
                        </a:rPr>
                        <a:t>BridgeManagement-db-deployer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939"/>
                          </a:solidFill>
                        </a:rPr>
                        <a:t>hdb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939"/>
                          </a:solidFill>
                        </a:rPr>
                        <a:t>HDI schema deployment to HANA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939"/>
                          </a:solidFill>
                        </a:rPr>
                        <a:t>10 × HTML5 apps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939"/>
                          </a:solidFill>
                        </a:rPr>
                        <a:t>html5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939"/>
                          </a:solidFill>
                        </a:rPr>
                        <a:t>admin, map, mass-upload, ops, dashboards…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 30"/>
          <p:cNvSpPr/>
          <p:nvPr/>
        </p:nvSpPr>
        <p:spPr>
          <a:xfrm>
            <a:off x="4773168" y="1572768"/>
            <a:ext cx="4169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0"/>
                </a:solidFill>
              </a:rPr>
              <a:t>Key Commands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1828800"/>
          <a:ext cx="4169664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975104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Command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4E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start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dev server (port 8008)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4E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test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Jest integration tests (SQLite)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4E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cds deploy --to sqlite:db.sqlite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schema locally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4E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cds deploy --to hana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Migrate HANA Cloud schema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4E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run validate-build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cds build + mbt build check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4E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mbt build --mtar BMS.mtar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 deploy artifact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D4E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cf deploy BMS.mtar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all modules to BTP CF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201168" y="4206240"/>
            <a:ext cx="8741664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292608" y="422452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A70"/>
                </a:solidFill>
              </a:rPr>
              <a:t>CF Spaces: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1170432" y="4242816"/>
            <a:ext cx="2377440" cy="27432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1170432" y="42428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dev  —  feature branches, local parity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3730752" y="4242816"/>
            <a:ext cx="2377440" cy="27432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3730752" y="42428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staging  —  UAT + regression testing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6291072" y="4242816"/>
            <a:ext cx="2377440" cy="27432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291072" y="42428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prod  —  live — protected, manual gate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Management System — SAP BTP</dc:title>
  <dc:subject>PptxGenJS Presentation</dc:subject>
  <dc:creator>BMS Product Team</dc:creator>
  <cp:lastModifiedBy>BMS Product Team</cp:lastModifiedBy>
  <cp:revision>1</cp:revision>
  <dcterms:created xsi:type="dcterms:W3CDTF">2026-04-23T17:14:14Z</dcterms:created>
  <dcterms:modified xsi:type="dcterms:W3CDTF">2026-04-23T17:14:14Z</dcterms:modified>
</cp:coreProperties>
</file>