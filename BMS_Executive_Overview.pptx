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0" cy="514350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Bridge Management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E4"/>
                </a:solidFill>
              </a:rPr>
              <a:t>A unified digital platform for managing Australia's bridge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CE4"/>
                </a:solidFill>
              </a:rPr>
              <a:t>assets — from inspection to NHVR compliance.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🏛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Built on SAP BTP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0D0"/>
                </a:solidFill>
              </a:rPr>
              <a:t>Cloud Foundry Runtime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D0D0"/>
                </a:solidFill>
              </a:rPr>
              <a:t>SAP HANA Cloud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D0D0"/>
                </a:solidFill>
              </a:rPr>
              <a:t>Fiori / UI5 Frontend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64592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5,000+  Bridges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3108960"/>
            <a:ext cx="164592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  States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108960"/>
            <a:ext cx="164592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 Apps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845"/>
          </a:solidFill>
          <a:ln w="12700">
            <a:solidFill>
              <a:srgbClr val="001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A"/>
                </a:solidFill>
              </a:rPr>
              <a:t>Bridge Management System  |  Business Overview  |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Problem We Solve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F"/>
                </a:solidFill>
              </a:rPr>
              <a:t>Transport for NSW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CF0F6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Bridge Management System  |  Business Overview  |  Confidential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2 / 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77240"/>
            <a:ext cx="2816352" cy="33375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77240"/>
            <a:ext cx="64008" cy="3337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8961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" y="144475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4"/>
                </a:solidFill>
              </a:rPr>
              <a:t>Data Fragmented Across Systems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" y="1883664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40"/>
                </a:solidFill>
              </a:rPr>
              <a:t>Bridge records, inspection reports, load ratings, and NHVR permits stored in separate spreadsheets, emails, and legacy systems with no single source of truth.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45536" y="777240"/>
            <a:ext cx="2816352" cy="3337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45536" y="777240"/>
            <a:ext cx="64008" cy="3337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8961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73552" y="144475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4"/>
                </a:solidFill>
              </a:rPr>
              <a:t>No Real-Time Visibility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73552" y="1883664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40"/>
                </a:solidFill>
              </a:rPr>
              <a:t>State transport agencies and NHVR officers cannot see current bridge condition, active restrictions, or permit status without manual requests and phone calls.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777240"/>
            <a:ext cx="2816352" cy="33375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777240"/>
            <a:ext cx="64008" cy="3337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8961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144475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4"/>
                </a:solidFill>
              </a:rPr>
              <a:t>Compliance Risk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1883664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40"/>
                </a:solidFill>
              </a:rPr>
              <a:t>Overloaded heavy vehicles crossing undercapacity bridges risk structural damage and public safety. Manual gazette processes delay approval and create legal exposure.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1168" y="4206240"/>
            <a:ext cx="8741664" cy="475488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422452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BMS solves all three — one platform, real-time data, role-based access, built on enterprise-grade SAP BTP infrastructure.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BMS Does — Capability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F"/>
                </a:solidFill>
              </a:rPr>
              <a:t>Transport for NSW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CF0F6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Bridge Management System  |  Business Overview  |  Confidential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3 / 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68096"/>
            <a:ext cx="64008" cy="137160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8229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🌉  Asset Registry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0881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664"/>
                </a:solidFill>
              </a:rPr>
              <a:t>👤 Engineers / Managers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261872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40"/>
                </a:solidFill>
              </a:rPr>
              <a:t>Centralised record of every bridge: location, structural type, materials, load ratings, span details, condition history and photos.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90672" y="768096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90672" y="768096"/>
            <a:ext cx="64008" cy="1371600"/>
          </a:xfrm>
          <a:prstGeom prst="rect">
            <a:avLst/>
          </a:prstGeom>
          <a:solidFill>
            <a:srgbClr val="007B87"/>
          </a:solidFill>
          <a:ln w="12700">
            <a:solidFill>
              <a:srgbClr val="007B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8229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🗺️  GIS Map &amp; Spatial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36976" y="10881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B87"/>
                </a:solidFill>
              </a:rPr>
              <a:t>👤 All staff / field teams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36976" y="1261872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40"/>
                </a:solidFill>
              </a:rPr>
              <a:t>Interactive map showing condition heat-maps, active weight restrictions, NHVR routes, and real-time viewport data for any zoom level.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0176" y="768096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0176" y="768096"/>
            <a:ext cx="64008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8229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📋  Inspection &amp; Condition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0881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</a:rPr>
              <a:t>👤 Field Inspectors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26480" y="1261872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40"/>
                </a:solidFill>
              </a:rPr>
              <a:t>Capture structured condition ratings in the field. Attach photos, log defects, track structural elements. Trend charts show deterioration over time.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" y="2249424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249424"/>
            <a:ext cx="64008" cy="1371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3042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🚛  NHVR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256946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👤 NHVR Officers / Managers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274320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40"/>
                </a:solidFill>
              </a:rPr>
              <a:t>Heavy-vehicle route assessment against bridge capacity. Gazette expiry tracking. Class 1–3 permit approvals with full audit trail.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90672" y="2249424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90672" y="2249424"/>
            <a:ext cx="64008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36976" y="23042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📤  Bulk Data Management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36976" y="256946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</a:rPr>
              <a:t>👤 Administrators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36976" y="274320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40"/>
                </a:solidFill>
              </a:rPr>
              <a:t>Excel/CSV mass upload and edit for thousands of bridges. Validation preview before commit. Supports all dataset types.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0176" y="2249424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0176" y="2249424"/>
            <a:ext cx="64008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3042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📊  Analytics &amp; Reporting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256946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</a:rPr>
              <a:t>👤 Executives / Planners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26480" y="274320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40"/>
                </a:solidFill>
              </a:rPr>
              <a:t>Network KPIs, condition distribution charts, restriction trends, NHVR gazette expiry timeline. Exportable bridge cards and reports.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Who Uses BMS — Roles &amp; Business Value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F"/>
                </a:solidFill>
              </a:rPr>
              <a:t>Transport for NSW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CF0F6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Bridge Management System  |  Business Overview  |  Confidential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4 / 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86384"/>
            <a:ext cx="8741664" cy="67665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86384"/>
            <a:ext cx="64008" cy="676656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841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BMS Administrator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2664"/>
                </a:solidFill>
              </a:rPr>
              <a:t>IT / Asset Management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896112"/>
            <a:ext cx="0" cy="457200"/>
          </a:xfrm>
          <a:prstGeom prst="line">
            <a:avLst/>
          </a:prstGeom>
          <a:noFill/>
          <a:ln w="12700">
            <a:solidFill>
              <a:srgbClr val="E2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8961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System configuration, audit log review, bulk data upload, user access management.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1536192"/>
            <a:ext cx="8741664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1536192"/>
            <a:ext cx="64008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1591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Bridge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1847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State Transport Agency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1645920"/>
            <a:ext cx="0" cy="457200"/>
          </a:xfrm>
          <a:prstGeom prst="line">
            <a:avLst/>
          </a:prstGeom>
          <a:noFill/>
          <a:ln w="12700">
            <a:solidFill>
              <a:srgbClr val="E2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1645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Create and maintain bridge records, manage weight restrictions, oversee condition capture programme.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2286000"/>
            <a:ext cx="8741664" cy="676656"/>
          </a:xfrm>
          <a:prstGeom prst="rect">
            <a:avLst/>
          </a:prstGeom>
          <a:solidFill>
            <a:srgbClr val="FFF3E0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2286000"/>
            <a:ext cx="64008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BMS Operator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596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TfNSW / State Roads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08960" y="2395728"/>
            <a:ext cx="0" cy="457200"/>
          </a:xfrm>
          <a:prstGeom prst="line">
            <a:avLst/>
          </a:prstGeom>
          <a:noFill/>
          <a:ln w="12700">
            <a:solidFill>
              <a:srgbClr val="E2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23957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NHVR compliance checks, mass data edits, map-based spatial queries, gazette processing.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" y="3035808"/>
            <a:ext cx="8741664" cy="676656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035808"/>
            <a:ext cx="64008" cy="6766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2960" y="3090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Inspector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33467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</a:rPr>
              <a:t>Field Engineering Teams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08960" y="3145536"/>
            <a:ext cx="0" cy="457200"/>
          </a:xfrm>
          <a:prstGeom prst="line">
            <a:avLst/>
          </a:prstGeom>
          <a:noFill/>
          <a:ln w="12700">
            <a:solidFill>
              <a:srgbClr val="E2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264" y="31455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Record condition ratings on-site, log defects, capture photos, track structural element status.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" y="3785616"/>
            <a:ext cx="8741664" cy="676656"/>
          </a:xfrm>
          <a:prstGeom prst="rect">
            <a:avLst/>
          </a:prstGeom>
          <a:solidFill>
            <a:srgbClr val="F9F0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3785616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2296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664"/>
                </a:solidFill>
              </a:rPr>
              <a:t>Viewer / Planner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" y="4096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Policy / Executive teams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08960" y="3895344"/>
            <a:ext cx="0" cy="457200"/>
          </a:xfrm>
          <a:prstGeom prst="line">
            <a:avLst/>
          </a:prstGeom>
          <a:noFill/>
          <a:ln w="12700">
            <a:solidFill>
              <a:srgbClr val="E2E8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55264" y="389534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Read-only access to maps, reports, dashboards, and KPI snapshots for planning and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Standards &amp; Compliance Alignment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F"/>
                </a:solidFill>
              </a:rPr>
              <a:t>Transport for NSW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CF0F6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Bridge Management System  |  Business Overview  |  Confidential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5 / 7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768096"/>
          <a:ext cx="874166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572414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Standard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How BMS Meets 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2664"/>
                          </a:solidFill>
                        </a:rPr>
                        <a:t>ISO 55000/55001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891"/>
                          </a:solidFill>
                        </a:rPr>
                        <a:t>Asset Management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540"/>
                          </a:solidFill>
                        </a:rPr>
                        <a:t>Lifecycle records, condition trends, criticality scoring, and maintenance planning data all captured in BMS.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2664"/>
                          </a:solidFill>
                        </a:rPr>
                        <a:t>AS 5100 (Bridge Design)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891"/>
                          </a:solidFill>
                        </a:rPr>
                        <a:t>Structural Adequacy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540"/>
                          </a:solidFill>
                        </a:rPr>
                        <a:t>Load rating fields, structural adequacy rating, and span data align with AS 5100 bridge assessment methodology.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2664"/>
                          </a:solidFill>
                        </a:rPr>
                        <a:t>NHVR Act 2012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891"/>
                          </a:solidFill>
                        </a:rPr>
                        <a:t>Heavy Vehicle Compliance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540"/>
                          </a:solidFill>
                        </a:rPr>
                        <a:t>BMS stores gazette data, route assessments, and permit approvals meeting NHVR regulatory requirements.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2664"/>
                          </a:solidFill>
                        </a:rPr>
                        <a:t>ISO/IEC 27001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891"/>
                          </a:solidFill>
                        </a:rPr>
                        <a:t>Information Security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540"/>
                          </a:solidFill>
                        </a:rPr>
                        <a:t>XSUAA role-based access, row-level state isolation, CSRF protection, and audit logging on all mutations.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2664"/>
                          </a:solidFill>
                        </a:rPr>
                        <a:t>SOC 2 (SAP BTP)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891"/>
                          </a:solidFill>
                        </a:rPr>
                        <a:t>Cloud Security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540"/>
                          </a:solidFill>
                        </a:rPr>
                        <a:t>SAP BTP Cloud Foundry and HANA Cloud hold SOC 2 Type II certification — inherited by BMS workloads.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2664"/>
                          </a:solidFill>
                        </a:rPr>
                        <a:t>WCAG 2.1 AA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891"/>
                          </a:solidFill>
                        </a:rPr>
                        <a:t>Accessibility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540"/>
                          </a:solidFill>
                        </a:rPr>
                        <a:t>SAP Fiori / UI5 framework provides accessibility compliance for all BMS screen-based apps.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01168" y="4169664"/>
            <a:ext cx="8741664" cy="493776"/>
          </a:xfrm>
          <a:prstGeom prst="rect">
            <a:avLst/>
          </a:prstGeom>
          <a:solidFill>
            <a:srgbClr val="EE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" y="41879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✅  BMS is built on SAP BTP — a globally certified enterprise cloud platform. All data remains within Australian data centres.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Benefits &amp; Value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F"/>
                </a:solidFill>
              </a:rPr>
              <a:t>Transport for NSW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CF0F6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Bridge Management System  |  Business Overview  |  Confidential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891"/>
                </a:solidFill>
              </a:rPr>
              <a:t>6 / 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2103120" cy="9601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768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Single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" y="1243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 of Truth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1499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No more conflicting spreadsheets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32304" y="768096"/>
            <a:ext cx="2103120" cy="960120"/>
          </a:xfrm>
          <a:prstGeom prst="rect">
            <a:avLst/>
          </a:prstGeom>
          <a:solidFill>
            <a:srgbClr val="007B87"/>
          </a:solidFill>
          <a:ln w="12700">
            <a:solidFill>
              <a:srgbClr val="007B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32304" y="768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Real-time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32304" y="1243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Condition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32304" y="1499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Field → system in minutes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768096"/>
            <a:ext cx="2103120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768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243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NHVR Compliance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499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Gazette expiry alerts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94576" y="768096"/>
            <a:ext cx="210312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94576" y="768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Audit-ready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94576" y="1243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Change Logs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94576" y="1499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Every mutation recorded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" y="1901952"/>
            <a:ext cx="422452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901952"/>
            <a:ext cx="437083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🏛  One platform for all bridge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956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📍  GIS-first: every record on the map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" y="2322576"/>
            <a:ext cx="4224528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322576"/>
            <a:ext cx="4370832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🔒  Role-based access — right people, right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📈  Trend analysis catches deterioration early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" y="2743200"/>
            <a:ext cx="422452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743200"/>
            <a:ext cx="437083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7980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📤  Bulk upload replaces manual data entry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🔔  Automated alerts for expiry and condition drops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" y="3163824"/>
            <a:ext cx="4224528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3163824"/>
            <a:ext cx="4370832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218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🌏  Multi-state with row-level state isolation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40"/>
                </a:solidFill>
              </a:rPr>
              <a:t>📑  Compliance-ready audit trail for ISO 55001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6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384048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0976" y="1234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UAT Sign-off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0976" y="1426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D4"/>
                </a:solidFill>
              </a:rPr>
              <a:t>Complete user acceptance testing across all 5 role profiles. Target: all critical paths green.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0976" y="1856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Migration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0976" y="20482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D4"/>
                </a:solidFill>
              </a:rPr>
              <a:t>Finalise bulk upload of existing bridge records from legacy systems using Excel import.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0976" y="247802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BTP Production Deploy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0976" y="2670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D4"/>
                </a:solidFill>
              </a:rPr>
              <a:t>Run npm run validate-build → cf deploy to production CF space. Smoke test /health endpoint.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90672"/>
            <a:ext cx="384048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" y="3099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Training &amp; Onboarding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50976" y="3291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D4"/>
                </a:solidFill>
              </a:rPr>
              <a:t>Role-based training sessions for Inspectors, Operators, and NHVR Officers.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384048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976" y="37216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Hypercare Period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976" y="39136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D4"/>
                </a:solidFill>
              </a:rPr>
              <a:t>4-week hypercare with monitoring via Application Logging and weekly KPI reviews.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640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0D0"/>
                </a:solidFill>
              </a:rPr>
              <a:t>BMS Product 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0D0"/>
                </a:solidFill>
              </a:rPr>
              <a:t>meetsiddhu@gmail.com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2011680"/>
            <a:ext cx="2011680" cy="0"/>
          </a:xfrm>
          <a:prstGeom prst="line">
            <a:avLst/>
          </a:prstGeom>
          <a:noFill/>
          <a:ln w="6350">
            <a:solidFill>
              <a:srgbClr val="FF8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0D0"/>
                </a:solidFill>
              </a:rPr>
              <a:t>SAP BTP Documentation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0D0"/>
                </a:solidFill>
              </a:rPr>
              <a:t>help.sap.com/btp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845"/>
          </a:solidFill>
          <a:ln w="12700">
            <a:solidFill>
              <a:srgbClr val="0018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A"/>
                </a:solidFill>
              </a:rPr>
              <a:t>Bridge Management System  |  Business Overview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Management System — Business Overview</dc:title>
  <dc:subject>PptxGenJS Presentation</dc:subject>
  <dc:creator>BMS Product Team</dc:creator>
  <cp:lastModifiedBy>BMS Product Team</cp:lastModifiedBy>
  <cp:revision>1</cp:revision>
  <dcterms:created xsi:type="dcterms:W3CDTF">2026-04-23T17:11:45Z</dcterms:created>
  <dcterms:modified xsi:type="dcterms:W3CDTF">2026-04-23T17:11:45Z</dcterms:modified>
</cp:coreProperties>
</file>